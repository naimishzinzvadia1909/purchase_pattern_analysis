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17"/>
  </p:notesMasterIdLst>
  <p:sldIdLst>
    <p:sldId id="256" r:id="rId2"/>
    <p:sldId id="273" r:id="rId3"/>
    <p:sldId id="268" r:id="rId4"/>
    <p:sldId id="269" r:id="rId5"/>
    <p:sldId id="270" r:id="rId6"/>
    <p:sldId id="271" r:id="rId7"/>
    <p:sldId id="272" r:id="rId8"/>
    <p:sldId id="267" r:id="rId9"/>
    <p:sldId id="257" r:id="rId10"/>
    <p:sldId id="258" r:id="rId11"/>
    <p:sldId id="259" r:id="rId12"/>
    <p:sldId id="260" r:id="rId13"/>
    <p:sldId id="261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57" autoAdjust="0"/>
    <p:restoredTop sz="94660"/>
  </p:normalViewPr>
  <p:slideViewPr>
    <p:cSldViewPr snapToGrid="0" snapToObjects="1">
      <p:cViewPr>
        <p:scale>
          <a:sx n="65" d="100"/>
          <a:sy n="65" d="100"/>
        </p:scale>
        <p:origin x="1064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8E1F6-DCB4-41E4-9D76-E65DAD0D988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191A2-A0BB-4C57-B4AA-BDB7941AF3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55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191A2-A0BB-4C57-B4AA-BDB7941AF3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050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BC40-4249-A021-A93B-F2C86C14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9B588-1AC6-37EE-677A-CDE8A7A79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E430B-38C8-3461-B50B-7402800AB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21A47-B01E-5EA2-7178-C4D967C52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191A2-A0BB-4C57-B4AA-BDB7941AF3A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490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3D8F-5297-6DD0-99F8-4ED30CB7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6B377-7E68-B036-2080-BC98DA462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FE9AD-B0D3-B87A-47CA-06F74C357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C8F4F-5A0D-9BB2-13E8-B85CA9C0B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191A2-A0BB-4C57-B4AA-BDB7941AF3A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19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5088B-C5B6-5C94-C45D-6B0FCC781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E86BF-0DAF-049A-7EE0-EAC2BAF8C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87C35-7E74-2E89-9BC7-9A96B3F8D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D7286-B62A-1B18-5B95-FD70EAB5B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191A2-A0BB-4C57-B4AA-BDB7941AF3A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027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15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3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5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86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56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7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2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17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63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0401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91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99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6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35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31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41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503" y="318527"/>
            <a:ext cx="5939000" cy="3303640"/>
          </a:xfrm>
        </p:spPr>
        <p:txBody>
          <a:bodyPr>
            <a:normAutofit/>
          </a:bodyPr>
          <a:lstStyle/>
          <a:p>
            <a:r>
              <a:rPr lang="en-IN" sz="6000" dirty="0">
                <a:solidFill>
                  <a:srgbClr val="EBEBEB"/>
                </a:solidFill>
              </a:rPr>
              <a:t>Purchase 						Pattern</a:t>
            </a:r>
            <a:br>
              <a:rPr lang="en-IN" sz="6000" dirty="0">
                <a:solidFill>
                  <a:srgbClr val="EBEBEB"/>
                </a:solidFill>
              </a:rPr>
            </a:br>
            <a:r>
              <a:rPr lang="en-IN" sz="6000" dirty="0">
                <a:solidFill>
                  <a:srgbClr val="EBEBEB"/>
                </a:solidFill>
              </a:rPr>
              <a:t>		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370" y="4247537"/>
            <a:ext cx="4641142" cy="157316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Dashboard-based Business Insights</a:t>
            </a:r>
          </a:p>
          <a:p>
            <a:r>
              <a:rPr lang="en-US" dirty="0">
                <a:solidFill>
                  <a:srgbClr val="FFFFFF"/>
                </a:solidFill>
              </a:rPr>
              <a:t>Prepared by: Zinzuvadia Naimish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37410478-9154-65C5-3F3C-019397F599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34" r="34734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4740-0BFE-90E3-30C0-ACC0F386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CA2207-8C1B-A7D2-F907-E16F6257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09" y="777251"/>
            <a:ext cx="8085582" cy="1110543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Project Overview</a:t>
            </a:r>
            <a:endParaRPr lang="en-IN" sz="7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7F896-22AB-698B-45E3-763605932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516" y="2507226"/>
            <a:ext cx="7914967" cy="3146322"/>
          </a:xfrm>
        </p:spPr>
        <p:txBody>
          <a:bodyPr>
            <a:normAutofit/>
          </a:bodyPr>
          <a:lstStyle/>
          <a:p>
            <a:pPr marL="342900" indent="-342900" defTabSz="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purpose of the dataset is to leverage Market Basket Analysis (MBA) on a Transaction dataset to unveil relationships between products. The objective is to extract valuable insights which includes understanding customer purchasing behavior, identifying frequently co-occurring products, and deriving actionable recommendations to enhance sales strategies, growth opportunities and customer satisfaction.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53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A6F188-588A-314E-0644-706FE4EF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09" y="777251"/>
            <a:ext cx="8085582" cy="1110543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Data Cleaning Process</a:t>
            </a:r>
            <a:endParaRPr lang="en-IN" sz="7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779AD-90B0-3F1C-BEF2-DB36216CD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516" y="2507226"/>
            <a:ext cx="7914967" cy="3146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Below is the clear document Data Cleaning Steps of the project report:-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01. Import and Load Raw data :-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The raw data was loaded using Excel.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Column names and data were checked for inconsistency.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1675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E88E-C317-24CE-83B5-878ACCD6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484" y="6617110"/>
            <a:ext cx="45719" cy="125743"/>
          </a:xfrm>
        </p:spPr>
        <p:txBody>
          <a:bodyPr>
            <a:noAutofit/>
          </a:bodyPr>
          <a:lstStyle/>
          <a:p>
            <a:r>
              <a:rPr lang="en-US" sz="800" dirty="0"/>
              <a:t>.</a:t>
            </a:r>
            <a:endParaRPr lang="en-IN" sz="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DAE2F-DBCD-1F20-527D-DDB4973A1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472" y="744791"/>
            <a:ext cx="8079928" cy="553802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02. Handling Missing Values :-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Rows with missing CustomerId was handled by generating CustomerId.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Itemname column had Null-Values, Special characters in around 6000 rows which were removed from the Actual Table ‘Sales’ and copied to a new table ‘Stock_Adjustments’.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Itemname with the highest number of transactions was identified as the MODE, indicating the most commonly purchased product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784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1CBB5-356A-E6F5-A4E0-380D6572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45B3-21D3-82E3-1954-F4C97EE58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484" y="6617110"/>
            <a:ext cx="45719" cy="125743"/>
          </a:xfrm>
        </p:spPr>
        <p:txBody>
          <a:bodyPr>
            <a:noAutofit/>
          </a:bodyPr>
          <a:lstStyle/>
          <a:p>
            <a:r>
              <a:rPr lang="en-US" sz="800" dirty="0"/>
              <a:t>.</a:t>
            </a:r>
            <a:endParaRPr lang="en-IN" sz="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5FF00-51DE-FE55-34AB-F6B0BC2EF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472" y="744791"/>
            <a:ext cx="8079928" cy="553802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03. Removing Duplicate Records  :-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 Exact duplicate records were removed to prevent inflated sales and quantity calculations.</a:t>
            </a:r>
            <a:r>
              <a:rPr lang="en-IN" b="1" dirty="0">
                <a:solidFill>
                  <a:schemeClr val="tx1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04.  Filtering Invalid Transactions :-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 Removed transactions with Negative quantities (product returns or errors) </a:t>
            </a:r>
          </a:p>
        </p:txBody>
      </p:sp>
    </p:spTree>
    <p:extLst>
      <p:ext uri="{BB962C8B-B14F-4D97-AF65-F5344CB8AC3E}">
        <p14:creationId xmlns:p14="http://schemas.microsoft.com/office/powerpoint/2010/main" val="1520456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06E3-20B4-D8FE-D590-5331D10C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4D1B-D03D-8D02-9140-A091F058C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484" y="6617110"/>
            <a:ext cx="45719" cy="125743"/>
          </a:xfrm>
        </p:spPr>
        <p:txBody>
          <a:bodyPr>
            <a:noAutofit/>
          </a:bodyPr>
          <a:lstStyle/>
          <a:p>
            <a:r>
              <a:rPr lang="en-US" sz="800" dirty="0"/>
              <a:t>.</a:t>
            </a:r>
            <a:endParaRPr lang="en-IN" sz="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83468-3F38-A42D-7B1A-D05B6C7A8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472" y="744791"/>
            <a:ext cx="8079928" cy="553802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5. Outlier Treatment :- 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Extreme values in quantity and revenue were reviewed. 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Outliers caused by data entry errors were removed</a:t>
            </a:r>
          </a:p>
          <a:p>
            <a:pPr lvl="0" fontAlgn="base"/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r>
              <a:rPr lang="en-IN" b="1" dirty="0">
                <a:solidFill>
                  <a:schemeClr val="tx1"/>
                </a:solidFill>
              </a:rPr>
              <a:t>6. Data Type Corrections :-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Data types were standardized for accurate analysis. 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Converted </a:t>
            </a:r>
            <a:r>
              <a:rPr lang="en-IN" b="1" dirty="0">
                <a:solidFill>
                  <a:schemeClr val="tx1"/>
                </a:solidFill>
              </a:rPr>
              <a:t>Invoice-Date</a:t>
            </a:r>
            <a:r>
              <a:rPr lang="en-IN" dirty="0">
                <a:solidFill>
                  <a:schemeClr val="tx1"/>
                </a:solidFill>
              </a:rPr>
              <a:t> to Date/Time format. 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Ensured </a:t>
            </a:r>
            <a:r>
              <a:rPr lang="en-IN" b="1" dirty="0">
                <a:solidFill>
                  <a:schemeClr val="tx1"/>
                </a:solidFill>
              </a:rPr>
              <a:t>Quantity</a:t>
            </a:r>
            <a:r>
              <a:rPr lang="en-IN" dirty="0">
                <a:solidFill>
                  <a:schemeClr val="tx1"/>
                </a:solidFill>
              </a:rPr>
              <a:t> and </a:t>
            </a:r>
            <a:r>
              <a:rPr lang="en-IN" b="1" dirty="0">
                <a:solidFill>
                  <a:schemeClr val="tx1"/>
                </a:solidFill>
              </a:rPr>
              <a:t>Price</a:t>
            </a:r>
            <a:r>
              <a:rPr lang="en-IN" dirty="0">
                <a:solidFill>
                  <a:schemeClr val="tx1"/>
                </a:solidFill>
              </a:rPr>
              <a:t> were numeric. 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Standardized text fields such as Itemname descriptions and country names. </a:t>
            </a:r>
          </a:p>
        </p:txBody>
      </p:sp>
    </p:spTree>
    <p:extLst>
      <p:ext uri="{BB962C8B-B14F-4D97-AF65-F5344CB8AC3E}">
        <p14:creationId xmlns:p14="http://schemas.microsoft.com/office/powerpoint/2010/main" val="720406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BB9B-4911-22D9-7C8A-28D3A74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B83C2-BF6C-FAD5-E10F-508ABD3FE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484" y="6617110"/>
            <a:ext cx="45719" cy="125743"/>
          </a:xfrm>
        </p:spPr>
        <p:txBody>
          <a:bodyPr>
            <a:noAutofit/>
          </a:bodyPr>
          <a:lstStyle/>
          <a:p>
            <a:r>
              <a:rPr lang="en-US" sz="800" dirty="0"/>
              <a:t>.</a:t>
            </a:r>
            <a:endParaRPr lang="en-IN" sz="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60952-BF9F-5C1B-9FAE-C745FBCEE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472" y="744791"/>
            <a:ext cx="8079928" cy="553802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07. Final Data Validation :-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 After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cleaning, the dataset was revalidated to ensure consistency and readiness for analysis.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709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3C259FD0-6921-D426-7B61-CF2AB4F18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5" y="835742"/>
            <a:ext cx="8540750" cy="519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57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417757"/>
          </a:xfrm>
        </p:spPr>
        <p:txBody>
          <a:bodyPr/>
          <a:lstStyle/>
          <a:p>
            <a:r>
              <a:rPr dirty="0"/>
              <a:t>Key KPIs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919" y="3795251"/>
            <a:ext cx="8065294" cy="2408903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dirty="0"/>
              <a:t>Revenue: 9.</a:t>
            </a:r>
            <a:r>
              <a:rPr lang="en-US" dirty="0"/>
              <a:t>48M</a:t>
            </a:r>
            <a:endParaRPr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Total Quantity: </a:t>
            </a:r>
            <a:r>
              <a:rPr lang="en-US" dirty="0"/>
              <a:t>5M</a:t>
            </a:r>
            <a:endParaRPr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Distinct Bills: 1</a:t>
            </a:r>
            <a:r>
              <a:rPr lang="en-US" dirty="0"/>
              <a:t>9</a:t>
            </a:r>
            <a:r>
              <a:rPr dirty="0"/>
              <a:t>.</a:t>
            </a:r>
            <a:r>
              <a:rPr lang="en-US" dirty="0"/>
              <a:t>54</a:t>
            </a:r>
            <a:r>
              <a:rPr dirty="0"/>
              <a:t>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Distinct Customers: </a:t>
            </a:r>
            <a:r>
              <a:rPr lang="en-US" dirty="0"/>
              <a:t>122</a:t>
            </a:r>
            <a:r>
              <a:rPr dirty="0"/>
              <a:t>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9B2B9-C2D7-6118-8E1D-B67E987C7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16" y="2157730"/>
            <a:ext cx="8517386" cy="11065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226142"/>
            <a:ext cx="8079581" cy="1931589"/>
          </a:xfrm>
        </p:spPr>
        <p:txBody>
          <a:bodyPr/>
          <a:lstStyle/>
          <a:p>
            <a:r>
              <a:rPr lang="en-IN"/>
              <a:t>Monthly Revenue Trend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493" y="4840926"/>
            <a:ext cx="8065294" cy="1658197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dirty="0"/>
              <a:t>Revenue peaks in </a:t>
            </a:r>
            <a:r>
              <a:rPr lang="en-US" dirty="0"/>
              <a:t>November </a:t>
            </a:r>
            <a:endParaRPr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Seasonal demand observed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Low performance in early months</a:t>
            </a:r>
          </a:p>
        </p:txBody>
      </p:sp>
      <p:pic>
        <p:nvPicPr>
          <p:cNvPr id="5" name="Picture 4" descr="A graph with red line and white text&#10;&#10;AI-generated content may be incorrect.">
            <a:extLst>
              <a:ext uri="{FF2B5EF4-FFF2-40B4-BE49-F238E27FC236}">
                <a16:creationId xmlns:a16="http://schemas.microsoft.com/office/drawing/2014/main" id="{C3506DE4-240E-1071-5AA7-FBD240502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2188"/>
            <a:ext cx="5544166" cy="2591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261875"/>
          </a:xfrm>
        </p:spPr>
        <p:txBody>
          <a:bodyPr/>
          <a:lstStyle/>
          <a:p>
            <a:r>
              <a:rPr lang="en-IN"/>
              <a:t>Top Selling Items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206" y="5096592"/>
            <a:ext cx="8065294" cy="1835150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dirty="0"/>
              <a:t>White Hanging Heart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Regency Cake</a:t>
            </a:r>
            <a:r>
              <a:rPr lang="en-US" dirty="0"/>
              <a:t> </a:t>
            </a:r>
            <a:r>
              <a:rPr dirty="0"/>
              <a:t>stand 3 Tier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Hand Warmer</a:t>
            </a:r>
          </a:p>
        </p:txBody>
      </p:sp>
      <p:pic>
        <p:nvPicPr>
          <p:cNvPr id="5" name="Picture 4" descr="A graph with red bars&#10;&#10;AI-generated content may be incorrect.">
            <a:extLst>
              <a:ext uri="{FF2B5EF4-FFF2-40B4-BE49-F238E27FC236}">
                <a16:creationId xmlns:a16="http://schemas.microsoft.com/office/drawing/2014/main" id="{4937B2B2-4295-8A0D-80BD-2725EDF34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9" y="2030255"/>
            <a:ext cx="5642410" cy="25614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11043"/>
            <a:ext cx="8079581" cy="1493860"/>
          </a:xfrm>
        </p:spPr>
        <p:txBody>
          <a:bodyPr/>
          <a:lstStyle/>
          <a:p>
            <a:r>
              <a:rPr lang="en-IN" dirty="0"/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206" y="4729316"/>
            <a:ext cx="8065294" cy="2128684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dirty="0"/>
              <a:t>At Risk: 54K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New Customers: 48K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Champions: 7K</a:t>
            </a:r>
          </a:p>
        </p:txBody>
      </p:sp>
      <p:pic>
        <p:nvPicPr>
          <p:cNvPr id="5" name="Picture 4" descr="A graph with red bars&#10;&#10;AI-generated content may be incorrect.">
            <a:extLst>
              <a:ext uri="{FF2B5EF4-FFF2-40B4-BE49-F238E27FC236}">
                <a16:creationId xmlns:a16="http://schemas.microsoft.com/office/drawing/2014/main" id="{B3B08B42-12C6-52CB-B631-1ECE65DD9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9" y="1504335"/>
            <a:ext cx="5652242" cy="3028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396181"/>
          </a:xfrm>
        </p:spPr>
        <p:txBody>
          <a:bodyPr/>
          <a:lstStyle/>
          <a:p>
            <a:r>
              <a:rPr dirty="0"/>
              <a:t>Quantity vs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80" y="5161934"/>
            <a:ext cx="8967019" cy="13961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</a:t>
            </a:r>
            <a:r>
              <a:rPr dirty="0"/>
              <a:t>Some items have high quantity but low revenue</a:t>
            </a:r>
            <a:r>
              <a:rPr lang="en-US" dirty="0"/>
              <a:t> </a:t>
            </a:r>
            <a:r>
              <a:rPr dirty="0"/>
              <a:t>Need pricing</a:t>
            </a:r>
            <a:r>
              <a:rPr lang="en-US" dirty="0"/>
              <a:t>       </a:t>
            </a:r>
            <a:r>
              <a:rPr dirty="0"/>
              <a:t>optimization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Few items drive majority revenue Pareto Principle observed</a:t>
            </a:r>
          </a:p>
          <a:p>
            <a:endParaRPr dirty="0"/>
          </a:p>
        </p:txBody>
      </p:sp>
      <p:pic>
        <p:nvPicPr>
          <p:cNvPr id="5" name="Picture 4" descr="A graph of red and black color&#10;&#10;AI-generated content may be incorrect.">
            <a:extLst>
              <a:ext uri="{FF2B5EF4-FFF2-40B4-BE49-F238E27FC236}">
                <a16:creationId xmlns:a16="http://schemas.microsoft.com/office/drawing/2014/main" id="{4672916B-9C71-FB3E-1E2B-D2564C585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98" y="1905922"/>
            <a:ext cx="5418599" cy="2794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075" y="609594"/>
            <a:ext cx="8079581" cy="1658198"/>
          </a:xfrm>
        </p:spPr>
        <p:txBody>
          <a:bodyPr/>
          <a:lstStyle/>
          <a:p>
            <a:r>
              <a:rPr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61" y="1846447"/>
            <a:ext cx="6711654" cy="4195481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sz="2400" dirty="0"/>
              <a:t>Inventory planning for peak months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/>
              <a:t>Focus on best sellers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400" dirty="0"/>
              <a:t>Customer retention strategies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128" y="623571"/>
            <a:ext cx="7695743" cy="35238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457200"/>
            <a:r>
              <a:rPr lang="en-US" sz="70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4320</TotalTime>
  <Words>429</Words>
  <Application>Microsoft Office PowerPoint</Application>
  <PresentationFormat>On-screen Show (4:3)</PresentationFormat>
  <Paragraphs>66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Century Gothic</vt:lpstr>
      <vt:lpstr>Wingdings 3</vt:lpstr>
      <vt:lpstr>Ion</vt:lpstr>
      <vt:lpstr>Purchase       Pattern   Analysis</vt:lpstr>
      <vt:lpstr>Project Overview</vt:lpstr>
      <vt:lpstr>Data Cleaning Process</vt:lpstr>
      <vt:lpstr>.</vt:lpstr>
      <vt:lpstr>.</vt:lpstr>
      <vt:lpstr>.</vt:lpstr>
      <vt:lpstr>.</vt:lpstr>
      <vt:lpstr>PowerPoint Presentation</vt:lpstr>
      <vt:lpstr>Key KPIs Overview</vt:lpstr>
      <vt:lpstr>Monthly Revenue Trend</vt:lpstr>
      <vt:lpstr>Top Selling Items</vt:lpstr>
      <vt:lpstr>Customer Segmentation</vt:lpstr>
      <vt:lpstr>Quantity vs Revenue</vt:lpstr>
      <vt:lpstr>Business 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naimish zinzuvadia</cp:lastModifiedBy>
  <cp:revision>2</cp:revision>
  <dcterms:created xsi:type="dcterms:W3CDTF">2013-01-27T09:14:16Z</dcterms:created>
  <dcterms:modified xsi:type="dcterms:W3CDTF">2025-12-30T10:55:16Z</dcterms:modified>
  <cp:category/>
</cp:coreProperties>
</file>